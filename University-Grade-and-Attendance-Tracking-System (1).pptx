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ira Sans Condensed"/>
      <p:regular r:id="rId201314"/>
    </p:embeddedFont>
    <p:embeddedFont>
      <p:font typeface="Fira Sans Condensed SemiBold"/>
      <p:regular r:id="rId201315"/>
    </p:embeddedFont>
    <p:embeddedFont>
      <p:font typeface="Fira Sans Condensed Bold"/>
      <p:regular r:id="rId201316"/>
    </p:embeddedFont>
    <p:embeddedFont>
      <p:font typeface="JetBrains Mon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Java system that brings attendance, marks, grades and academic summaries into one dependable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has two jobs: hold the right academic information and make that information easier to interpret. The goal is accuracy without unnecessary manual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fragmentation rather than a lack of effort. The same people are doing repeated work across different records, which creates opportunities for inconsistency.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declaration to the domain. An integer identifies a student, a double represents a measurable academic value, and a character can hold a grade. Naming makes the logic explainable.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flow to explain how control structures work together. Conditions make a decision; loops make sure the decision is repeated consistently across the full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Arrays are useful here because the groups are fixed and related. The same loop can move across assessment marks or attendance sessions and produce a meaningful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center of the model first: Student. Courses, grade records and attendance records are separate concepts, but their relationships explain how the tracker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processing supports the human-facing report. File I/O gives the system memory beyond one run, so a student’s academic history is not lost when the program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progression from storage to action. Collections hold the records in useful forms; lambdas and streams turn those records into filtered, sorted and collected academic summaries.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reconnecting the concepts to the system. The value is the combination: structured records, repeatable decisions, preserved history and a design that can grow into future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F4F3EC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384175"/>
            <a:ext cx="728961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JAVA PROJECT · UNIVERSITY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31789" y="872728"/>
            <a:ext cx="68578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spc="-48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University Grade and Attendance Tracking System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1789" y="2852341"/>
            <a:ext cx="728961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Java project presentation connecting core programming concepts to a practical academic workflow.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1789" y="3181251"/>
            <a:ext cx="6857828" cy="46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Covers attendance, marks, grades and academic summaries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Built with core Java concepts from the course outcomes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789" y="5531842"/>
            <a:ext cx="3352716" cy="995958"/>
          </a:xfrm>
          <a:prstGeom prst="rect">
            <a:avLst/>
          </a:prstGeom>
          <a:solidFill>
            <a:srgbClr val="DDF2E8"/>
          </a:solidFill>
          <a:ln/>
        </p:spPr>
      </p:sp>
      <p:sp>
        <p:nvSpPr>
          <p:cNvPr id="8" name="Text 6"/>
          <p:cNvSpPr/>
          <p:nvPr/>
        </p:nvSpPr>
        <p:spPr>
          <a:xfrm>
            <a:off x="584185" y="5664795"/>
            <a:ext cx="320032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4185" y="5898555"/>
            <a:ext cx="3047924" cy="5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[1. K.Sphoorthi-2620030567]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[2. V.Sai Sphoorthi-2620030569]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6902" y="5531842"/>
            <a:ext cx="3352716" cy="995958"/>
          </a:xfrm>
          <a:prstGeom prst="rect">
            <a:avLst/>
          </a:prstGeom>
          <a:solidFill>
            <a:srgbClr val="DDF2E8"/>
          </a:solidFill>
          <a:ln/>
        </p:spPr>
      </p:sp>
      <p:sp>
        <p:nvSpPr>
          <p:cNvPr id="11" name="Text 9"/>
          <p:cNvSpPr/>
          <p:nvPr/>
        </p:nvSpPr>
        <p:spPr>
          <a:xfrm>
            <a:off x="4089298" y="5664795"/>
            <a:ext cx="320032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SECTION :6</a:t>
            </a:r>
            <a:endParaRPr lang="en-US" sz="10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14128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16423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21314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One system turns scattered academic records into a reliable summary.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5591" y="2460327"/>
            <a:ext cx="11480513" cy="953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Tracks enrolment, attendance and marks for every student and course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Flags low attendance early so staff can act before term end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Generates grade and attendance reports from one consistent data source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Reduces repeated manual entry and calculation errors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5591" y="3591818"/>
            <a:ext cx="5664058" cy="1562695"/>
          </a:xfrm>
          <a:prstGeom prst="roundRect">
            <a:avLst>
              <a:gd name="adj" fmla="val 3901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35" y="3801368"/>
            <a:ext cx="330192" cy="330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0535" y="4209355"/>
            <a:ext cx="51941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Capture the record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0535" y="4515743"/>
            <a:ext cx="519417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Store student details, course enrolment, attendance entries, assessment marks and final grades in one Java application.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046" y="3591818"/>
            <a:ext cx="5664058" cy="1562695"/>
          </a:xfrm>
          <a:prstGeom prst="roundRect">
            <a:avLst>
              <a:gd name="adj" fmla="val 3901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990" y="3801368"/>
            <a:ext cx="330192" cy="33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6990" y="4209355"/>
            <a:ext cx="51941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Make it useful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6990" y="4515743"/>
            <a:ext cx="519417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Calculate grades, present attendance percentages and produce clear academic reports with less manual work and fewer avoidable errors.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5591" y="5312866"/>
            <a:ext cx="1183610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SCOPE · STUDENT RECORDS · ATTENDANCE · GRADES · REPORTS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WHY THE SYSTEM MATTERS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The problem is fragmented academic tracking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When records live in separate places, simple updates become unreliable decisions.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5664058" cy="2516287"/>
          </a:xfrm>
          <a:prstGeom prst="roundRect">
            <a:avLst>
              <a:gd name="adj" fmla="val 2423"/>
            </a:avLst>
          </a:prstGeom>
          <a:solidFill>
            <a:srgbClr val="F4F3EC"/>
          </a:solidFill>
          <a:ln/>
        </p:spPr>
      </p:sp>
      <p:sp>
        <p:nvSpPr>
          <p:cNvPr id="6" name="Shape 4"/>
          <p:cNvSpPr/>
          <p:nvPr/>
        </p:nvSpPr>
        <p:spPr>
          <a:xfrm>
            <a:off x="558786" y="1571327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7" name="Text 5"/>
          <p:cNvSpPr/>
          <p:nvPr/>
        </p:nvSpPr>
        <p:spPr>
          <a:xfrm>
            <a:off x="626253" y="1633240"/>
            <a:ext cx="76346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8786" y="1915815"/>
            <a:ext cx="52576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Manual updates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8786" y="2222202"/>
            <a:ext cx="5257668" cy="7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Registers and spreadsheets make changes slow, duplicated and inconsistent. Each course is updated separately.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Delayed updates also slow term-end reporting and review.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046" y="1393527"/>
            <a:ext cx="5664058" cy="2516287"/>
          </a:xfrm>
          <a:prstGeom prst="roundRect">
            <a:avLst>
              <a:gd name="adj" fmla="val 2423"/>
            </a:avLst>
          </a:prstGeom>
          <a:solidFill>
            <a:srgbClr val="F4F3EC"/>
          </a:solidFill>
          <a:ln/>
        </p:spPr>
      </p:sp>
      <p:sp>
        <p:nvSpPr>
          <p:cNvPr id="11" name="Shape 9"/>
          <p:cNvSpPr/>
          <p:nvPr/>
        </p:nvSpPr>
        <p:spPr>
          <a:xfrm>
            <a:off x="6375241" y="1571327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12" name="Text 10"/>
          <p:cNvSpPr/>
          <p:nvPr/>
        </p:nvSpPr>
        <p:spPr>
          <a:xfrm>
            <a:off x="6438044" y="1633240"/>
            <a:ext cx="77289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75241" y="1915815"/>
            <a:ext cx="52576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Calculation risk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75241" y="2222202"/>
            <a:ext cx="525766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Attendance percentages and weighted grade totals are easy to miscalculate by hand.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591" y="4062214"/>
            <a:ext cx="5664058" cy="2516386"/>
          </a:xfrm>
          <a:prstGeom prst="roundRect">
            <a:avLst>
              <a:gd name="adj" fmla="val 2422"/>
            </a:avLst>
          </a:prstGeom>
          <a:solidFill>
            <a:srgbClr val="F4F3EC"/>
          </a:solidFill>
          <a:ln/>
        </p:spPr>
      </p:sp>
      <p:sp>
        <p:nvSpPr>
          <p:cNvPr id="16" name="Shape 14"/>
          <p:cNvSpPr/>
          <p:nvPr/>
        </p:nvSpPr>
        <p:spPr>
          <a:xfrm>
            <a:off x="558786" y="4240014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95" y="4301927"/>
            <a:ext cx="77428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8786" y="4584502"/>
            <a:ext cx="52576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Limited visibility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8786" y="4890889"/>
            <a:ext cx="546086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Students and staff need a clearer view of grades and attendance trends.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046" y="4062214"/>
            <a:ext cx="5664058" cy="2516386"/>
          </a:xfrm>
          <a:prstGeom prst="roundRect">
            <a:avLst>
              <a:gd name="adj" fmla="val 2422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640" y="4265414"/>
            <a:ext cx="288918" cy="288925"/>
          </a:xfrm>
          <a:prstGeom prst="ellipse">
            <a:avLst/>
          </a:prstGeom>
          <a:solidFill>
            <a:srgbClr val="9FE3C4"/>
          </a:solidFill>
          <a:ln/>
        </p:spPr>
      </p:sp>
      <p:sp>
        <p:nvSpPr>
          <p:cNvPr id="22" name="Text 20"/>
          <p:cNvSpPr/>
          <p:nvPr/>
        </p:nvSpPr>
        <p:spPr>
          <a:xfrm>
            <a:off x="6458681" y="4327327"/>
            <a:ext cx="78232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640" y="4605139"/>
            <a:ext cx="1505508" cy="257473"/>
          </a:xfrm>
          <a:prstGeom prst="roundRect">
            <a:avLst>
              <a:gd name="adj" fmla="val 7695"/>
            </a:avLst>
          </a:prstGeom>
          <a:solidFill>
            <a:srgbClr val="113B28"/>
          </a:solidFill>
          <a:ln/>
        </p:spPr>
      </p:sp>
      <p:sp>
        <p:nvSpPr>
          <p:cNvPr id="24" name="Text 22"/>
          <p:cNvSpPr/>
          <p:nvPr/>
        </p:nvSpPr>
        <p:spPr>
          <a:xfrm>
            <a:off x="6499658" y="4658248"/>
            <a:ext cx="1917057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E3ECE7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SYSTEM RESPONSE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640" y="4994374"/>
            <a:ext cx="52068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Validate and preserve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640" y="5300762"/>
            <a:ext cx="520687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tracker validates input, organizes data and preserves records for later review.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CO1 · FOUNDATIONS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CO1: Data types, variables, and identifiers power every record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Good names and appropriate types make the tracker readable before it ever runs.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3725174" cy="4904085"/>
          </a:xfrm>
          <a:prstGeom prst="roundRect">
            <a:avLst>
              <a:gd name="adj" fmla="val 1636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5136" y="3086199"/>
            <a:ext cx="351562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STUDENT DATA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5136" y="3315990"/>
            <a:ext cx="3306084" cy="129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int</a:t>
            </a:r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studentId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String</a:t>
            </a:r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studentName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String</a:t>
            </a:r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department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Identity fields describe who the record belongs 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33161" y="1393527"/>
            <a:ext cx="3725273" cy="4904085"/>
          </a:xfrm>
          <a:prstGeom prst="roundRect">
            <a:avLst>
              <a:gd name="adj" fmla="val 1636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2706" y="2942332"/>
            <a:ext cx="351572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ACADEMIC VALUES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42706" y="3172123"/>
            <a:ext cx="3306184" cy="1579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double</a:t>
            </a:r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marks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double</a:t>
            </a:r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attendancePercentage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char</a:t>
            </a:r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grade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Use int for IDs, double for measured values and char for a single grade letter.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Types match the kind of value being stored.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10831" y="1393527"/>
            <a:ext cx="3725273" cy="4904085"/>
          </a:xfrm>
          <a:prstGeom prst="roundRect">
            <a:avLst>
              <a:gd name="adj" fmla="val 1636"/>
            </a:avLst>
          </a:prstGeom>
          <a:solidFill>
            <a:srgbClr val="F4F3EC"/>
          </a:solidFill>
          <a:ln w="19050">
            <a:solidFill>
              <a:srgbClr val="F2D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3075" y="3229967"/>
            <a:ext cx="350302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READABLE LABELS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333075" y="3459758"/>
            <a:ext cx="3280784" cy="1004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totalMarks</a:t>
            </a:r>
            <a:endParaRPr lang="en-US" sz="1300" dirty="0"/>
          </a:p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courseCode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Meaningful identifiers keep calculations understandable.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5591" y="6417866"/>
            <a:ext cx="11836104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TYPE CHOICE + MEANINGFUL NAMES = RECORDS THAT ARE EASIER TO TRUST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CO2 · CONTROL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Conditions and loops turn records into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program applies the same rules to every student, course and academic entry.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55427"/>
            <a:ext cx="11480513" cy="1012726"/>
          </a:xfrm>
          <a:prstGeom prst="roundRect">
            <a:avLst>
              <a:gd name="adj" fmla="val 6019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1485602"/>
            <a:ext cx="1130271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EXAMPLE FLOW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87" y="1720155"/>
            <a:ext cx="26669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Read marks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387" y="2026543"/>
            <a:ext cx="266693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Collect assessment values.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52716" y="1720155"/>
            <a:ext cx="26669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Calculate total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52716" y="2026543"/>
            <a:ext cx="266693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Combine the record.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046" y="1720155"/>
            <a:ext cx="26669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Assign grade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046" y="2026543"/>
            <a:ext cx="266693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Use conditions.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91375" y="1720155"/>
            <a:ext cx="266693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Display status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91375" y="2026543"/>
            <a:ext cx="266693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Present the result.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591" y="2520553"/>
            <a:ext cx="5664058" cy="1328936"/>
          </a:xfrm>
          <a:prstGeom prst="roundRect">
            <a:avLst>
              <a:gd name="adj" fmla="val 4587"/>
            </a:avLst>
          </a:prstGeom>
          <a:solidFill>
            <a:srgbClr val="DDF2E8"/>
          </a:solidFill>
          <a:ln/>
        </p:spPr>
      </p:sp>
      <p:sp>
        <p:nvSpPr>
          <p:cNvPr id="16" name="Text 14"/>
          <p:cNvSpPr/>
          <p:nvPr/>
        </p:nvSpPr>
        <p:spPr>
          <a:xfrm>
            <a:off x="533387" y="2676128"/>
            <a:ext cx="548626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CONDITIONS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3387" y="2888456"/>
            <a:ext cx="530846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Classify and flag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3387" y="3194844"/>
            <a:ext cx="5308467" cy="5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Classify grades and flag attendance below the required threshold.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Use if-else chains for grade bands and switch for fixed status codes.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046" y="2520553"/>
            <a:ext cx="5664058" cy="1328936"/>
          </a:xfrm>
          <a:prstGeom prst="roundRect">
            <a:avLst>
              <a:gd name="adj" fmla="val 4587"/>
            </a:avLst>
          </a:prstGeom>
          <a:solidFill>
            <a:srgbClr val="F4F3EC"/>
          </a:solidFill>
          <a:ln/>
        </p:spPr>
      </p:sp>
      <p:sp>
        <p:nvSpPr>
          <p:cNvPr id="20" name="Text 18"/>
          <p:cNvSpPr/>
          <p:nvPr/>
        </p:nvSpPr>
        <p:spPr>
          <a:xfrm>
            <a:off x="6349841" y="2676128"/>
            <a:ext cx="548626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LOOPS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49841" y="2888456"/>
            <a:ext cx="530846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Repeat consistently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49841" y="3194844"/>
            <a:ext cx="5308467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Process every student, course, attendance entry and assessment mark so repeated processing is consistent instead of manually repeated.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CO3 · ARRAYS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Arrays organize marks and attendance by course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Fixed groups of related values become easy to calculate and compare.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93527"/>
            <a:ext cx="5664058" cy="1751509"/>
          </a:xfrm>
          <a:prstGeom prst="roundRect">
            <a:avLst>
              <a:gd name="adj" fmla="val 3480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1574502"/>
            <a:ext cx="546086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MARKS ARRAY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8786" y="1845568"/>
            <a:ext cx="546682" cy="257473"/>
          </a:xfrm>
          <a:prstGeom prst="roundRect">
            <a:avLst>
              <a:gd name="adj" fmla="val 7695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804" y="1898677"/>
            <a:ext cx="958231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QUIZ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016" y="1845568"/>
            <a:ext cx="1069651" cy="257473"/>
          </a:xfrm>
          <a:prstGeom prst="roundRect">
            <a:avLst>
              <a:gd name="adj" fmla="val 7695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7033" y="1898677"/>
            <a:ext cx="1481200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ASSIGNMENT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40214" y="1845568"/>
            <a:ext cx="808216" cy="257473"/>
          </a:xfrm>
          <a:prstGeom prst="roundRect">
            <a:avLst>
              <a:gd name="adj" fmla="val 7695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9232" y="1898677"/>
            <a:ext cx="1219765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MIDTERM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30978" y="1845568"/>
            <a:ext cx="633893" cy="257473"/>
          </a:xfrm>
          <a:prstGeom prst="roundRect">
            <a:avLst>
              <a:gd name="adj" fmla="val 7695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9996" y="1898677"/>
            <a:ext cx="1045442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FINAL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8786" y="2158603"/>
            <a:ext cx="52576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Assessment values stay together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8786" y="2464991"/>
            <a:ext cx="525766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An array can hold marks for quizzes, assignments, midterms and finals within one course record.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046" y="1393527"/>
            <a:ext cx="5664058" cy="1751509"/>
          </a:xfrm>
          <a:prstGeom prst="roundRect">
            <a:avLst>
              <a:gd name="adj" fmla="val 3480"/>
            </a:avLst>
          </a:prstGeom>
          <a:solidFill>
            <a:srgbClr val="F4F3EC"/>
          </a:solidFill>
          <a:ln/>
        </p:spPr>
      </p:sp>
      <p:sp>
        <p:nvSpPr>
          <p:cNvPr id="18" name="Text 16"/>
          <p:cNvSpPr/>
          <p:nvPr/>
        </p:nvSpPr>
        <p:spPr>
          <a:xfrm>
            <a:off x="6375241" y="1574502"/>
            <a:ext cx="546086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ATTENDANCE ARRAY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75241" y="1845568"/>
            <a:ext cx="808216" cy="257473"/>
          </a:xfrm>
          <a:prstGeom prst="roundRect">
            <a:avLst>
              <a:gd name="adj" fmla="val 7695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4258" y="1898677"/>
            <a:ext cx="1219765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PRESENT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66004" y="1845568"/>
            <a:ext cx="721005" cy="257473"/>
          </a:xfrm>
          <a:prstGeom prst="roundRect">
            <a:avLst>
              <a:gd name="adj" fmla="val 7695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5022" y="1898677"/>
            <a:ext cx="1132554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ABSENT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69557" y="1845568"/>
            <a:ext cx="808216" cy="257473"/>
          </a:xfrm>
          <a:prstGeom prst="roundRect">
            <a:avLst>
              <a:gd name="adj" fmla="val 7695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8575" y="1898677"/>
            <a:ext cx="1219765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PRESENT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60320" y="1845568"/>
            <a:ext cx="808216" cy="257473"/>
          </a:xfrm>
          <a:prstGeom prst="roundRect">
            <a:avLst>
              <a:gd name="adj" fmla="val 7695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9338" y="1898677"/>
            <a:ext cx="1219765" cy="158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2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PRESENT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5241" y="2158603"/>
            <a:ext cx="52576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Sessions become processable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75241" y="2464991"/>
            <a:ext cx="5257668" cy="5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Attendance arrays track present or absent values across class sessions.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Counting present sessions gives the attendance percentage.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5591" y="3259336"/>
            <a:ext cx="11480513" cy="570210"/>
          </a:xfrm>
          <a:prstGeom prst="roundRect">
            <a:avLst>
              <a:gd name="adj" fmla="val 10691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4185" y="3437136"/>
            <a:ext cx="1125191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Loop through the arrays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to calculate totals, averages and attendance percentages without rewriting the same operation for every value.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92" y="307975"/>
            <a:ext cx="393690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CO4 · OBJECT-ORIENTED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30192" y="537406"/>
            <a:ext cx="3606710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Classes make the academic domain understandable and robust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30192" y="2178447"/>
            <a:ext cx="360671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code mirrors the university workflow instead of hiding it inside one large procedure.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0192" y="2760067"/>
            <a:ext cx="1727157" cy="2765723"/>
          </a:xfrm>
          <a:prstGeom prst="roundRect">
            <a:avLst>
              <a:gd name="adj" fmla="val 3529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736" y="2947392"/>
            <a:ext cx="151761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9736" y="3177183"/>
            <a:ext cx="1308067" cy="1079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Keep fields private and expose validated methods such as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4F3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updateMarks()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09745" y="2760067"/>
            <a:ext cx="1727157" cy="2765723"/>
          </a:xfrm>
          <a:prstGeom prst="roundRect">
            <a:avLst>
              <a:gd name="adj" fmla="val 3529"/>
            </a:avLst>
          </a:prstGeom>
          <a:solidFill>
            <a:srgbClr val="F4F3EC"/>
          </a:solidFill>
          <a:ln w="6350">
            <a:solidFill>
              <a:srgbClr val="8CA8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19289" y="2947392"/>
            <a:ext cx="1308067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EXCEPTION HANDLING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19289" y="3337123"/>
            <a:ext cx="1308067" cy="2004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Handle invalid marks, missing files and incorrect student IDs without crashing.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Show clear messages so staff know what to correct.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6956" y="1010345"/>
            <a:ext cx="7104778" cy="380990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0471" y="1358482"/>
            <a:ext cx="3283538" cy="16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spc="-6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Student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38759" y="3464327"/>
            <a:ext cx="1599733" cy="16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spc="-6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Course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38759" y="3728686"/>
            <a:ext cx="1599733" cy="218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Student enrolls in</a:t>
            </a:r>
            <a:endParaRPr lang="en-US" sz="13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457" y="2644457"/>
            <a:ext cx="355233" cy="3552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33030" y="3698786"/>
            <a:ext cx="1599734" cy="16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spc="-6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GradeRecord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33030" y="3963145"/>
            <a:ext cx="1599734" cy="218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Owned by student</a:t>
            </a:r>
            <a:endParaRPr lang="en-US" sz="13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728" y="2886022"/>
            <a:ext cx="355233" cy="3552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27302" y="3450117"/>
            <a:ext cx="1599733" cy="16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spc="-6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AttendanceRecord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827302" y="3714476"/>
            <a:ext cx="1599733" cy="218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Owned by student</a:t>
            </a:r>
            <a:endParaRPr lang="en-US" sz="13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5999" y="2616038"/>
            <a:ext cx="355233" cy="3552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1183610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CO5 · TEXT AND FILE I/O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114805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Text processing and file I/O preserve academic history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118361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system keeps records useful during the session and available after the program closes.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68127"/>
            <a:ext cx="7174527" cy="5210473"/>
          </a:xfrm>
          <a:prstGeom prst="roundRect">
            <a:avLst>
              <a:gd name="adj" fmla="val 1170"/>
            </a:avLst>
          </a:prstGeom>
          <a:solidFill>
            <a:srgbClr val="F4F3EC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1549102"/>
            <a:ext cx="697133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WORK WITH TEXT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1778913"/>
            <a:ext cx="330192" cy="330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4074" y="1783655"/>
            <a:ext cx="16590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Format reports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4074" y="2090043"/>
            <a:ext cx="1659094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Use String and StringBuilder for student reports and attendance summaries.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564" y="1778913"/>
            <a:ext cx="330192" cy="330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60852" y="1783655"/>
            <a:ext cx="16591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Find and compare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360852" y="2090043"/>
            <a:ext cx="1659194" cy="1073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Search by ID or name, compare names and course codes consistently, and sort by grade or attendance.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442" y="1778913"/>
            <a:ext cx="330192" cy="330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7729" y="1783655"/>
            <a:ext cx="165909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Persist history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667729" y="2090043"/>
            <a:ext cx="1659094" cy="178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Read and write text files so grades and attendance remain available after the program closes.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Reload saved records at startup to continue the term.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415" y="1444327"/>
            <a:ext cx="4153689" cy="51342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91" y="307975"/>
            <a:ext cx="756901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CO6 · COLLECTIONS AND STREAMS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55591" y="537406"/>
            <a:ext cx="721342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Collections and streams scale the tracker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91" y="1026517"/>
            <a:ext cx="756901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data structures match the jobs the system needs to perform.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5591" y="1368127"/>
            <a:ext cx="7213420" cy="2528987"/>
          </a:xfrm>
          <a:prstGeom prst="roundRect">
            <a:avLst>
              <a:gd name="adj" fmla="val 2410"/>
            </a:avLst>
          </a:prstGeom>
          <a:solidFill>
            <a:srgbClr val="F4F3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87" y="1520547"/>
            <a:ext cx="330192" cy="33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674" y="1525290"/>
            <a:ext cx="168905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ArrayList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28674" y="1831677"/>
            <a:ext cx="1689058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Store students and courses in an ordered collection that grows as enrolment changes.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128" y="1520547"/>
            <a:ext cx="330192" cy="33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65416" y="1525290"/>
            <a:ext cx="168905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HashMap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65416" y="1831677"/>
            <a:ext cx="1689058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Find a student quickly by student ID or course code.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870" y="1520547"/>
            <a:ext cx="330192" cy="330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02157" y="1525290"/>
            <a:ext cx="168905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spc="-7" kern="100" dirty="0">
                <a:solidFill>
                  <a:srgbClr val="000000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Set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702157" y="1831677"/>
            <a:ext cx="168905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Keep course codes unique.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55591" y="4049514"/>
            <a:ext cx="7213420" cy="2529086"/>
          </a:xfrm>
          <a:prstGeom prst="roundRect">
            <a:avLst>
              <a:gd name="adj" fmla="val 2410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58786" y="4230489"/>
            <a:ext cx="701022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STREAM PIPELINE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58786" y="4460280"/>
            <a:ext cx="680703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Filter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attendance below threshold →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sort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by percentage →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map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to student alerts → 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ira Sans Condensed Bold" pitchFamily="34" charset="0"/>
                <a:ea typeface="Fira Sans Condensed Bold" pitchFamily="34" charset="-122"/>
                <a:cs typeface="Fira Sans Condensed Bold" pitchFamily="34" charset="-120"/>
              </a:rPr>
              <a:t>collect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 the final list.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02" y="0"/>
            <a:ext cx="426709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33375"/>
            <a:ext cx="118107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9FE3C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CONCLUSION · SYSTEM 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0990" y="562806"/>
            <a:ext cx="1142971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00" spc="-14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From manual records to a dependable Java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0990" y="1243409"/>
            <a:ext cx="44194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spc="-36" kern="100" dirty="0">
                <a:solidFill>
                  <a:srgbClr val="F4F3EC"/>
                </a:solidFill>
                <a:latin typeface="Fira Sans Condensed SemiBold" pitchFamily="34" charset="0"/>
                <a:ea typeface="Fira Sans Condensed SemiBold" pitchFamily="34" charset="-122"/>
                <a:cs typeface="Fira Sans Condensed SemiBold" pitchFamily="34" charset="-120"/>
              </a:rPr>
              <a:t>Core Java concepts become a practical university workflow.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0990" y="2743597"/>
            <a:ext cx="1458380" cy="31651"/>
          </a:xfrm>
          <a:prstGeom prst="roundRect">
            <a:avLst>
              <a:gd name="adj" fmla="val 49998"/>
            </a:avLst>
          </a:prstGeom>
          <a:solidFill>
            <a:srgbClr val="9FE3C4"/>
          </a:solidFill>
          <a:ln/>
        </p:spPr>
      </p:sp>
      <p:sp>
        <p:nvSpPr>
          <p:cNvPr id="6" name="Text 4"/>
          <p:cNvSpPr/>
          <p:nvPr/>
        </p:nvSpPr>
        <p:spPr>
          <a:xfrm>
            <a:off x="380990" y="2892822"/>
            <a:ext cx="441948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3ECE7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tracker connects data types, control flow, arrays, classes, text processing, file I/O, collections and streams.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32269" y="1052909"/>
            <a:ext cx="3213020" cy="2533452"/>
          </a:xfrm>
          <a:prstGeom prst="roundRect">
            <a:avLst>
              <a:gd name="adj" fmla="val 2406"/>
            </a:avLst>
          </a:prstGeom>
          <a:solidFill>
            <a:srgbClr val="F4F3EC"/>
          </a:solidFill>
          <a:ln/>
        </p:spPr>
      </p:sp>
      <p:sp>
        <p:nvSpPr>
          <p:cNvPr id="8" name="Text 6"/>
          <p:cNvSpPr/>
          <p:nvPr/>
        </p:nvSpPr>
        <p:spPr>
          <a:xfrm>
            <a:off x="5410065" y="1208484"/>
            <a:ext cx="303522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CONSISTENCY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10065" y="1438275"/>
            <a:ext cx="285742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More reliable attendance, grading, validation and reporting.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97685" y="1052909"/>
            <a:ext cx="3213020" cy="2533452"/>
          </a:xfrm>
          <a:prstGeom prst="roundRect">
            <a:avLst>
              <a:gd name="adj" fmla="val 2406"/>
            </a:avLst>
          </a:prstGeom>
          <a:solidFill>
            <a:srgbClr val="F4F3EC"/>
          </a:solidFill>
          <a:ln/>
        </p:spPr>
      </p:sp>
      <p:sp>
        <p:nvSpPr>
          <p:cNvPr id="11" name="Text 9"/>
          <p:cNvSpPr/>
          <p:nvPr/>
        </p:nvSpPr>
        <p:spPr>
          <a:xfrm>
            <a:off x="8775480" y="1208484"/>
            <a:ext cx="303522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MAINTAINABILITY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5480" y="1438275"/>
            <a:ext cx="285742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Object-oriented design keeps the system understandable as features grow.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2269" y="3738761"/>
            <a:ext cx="6578435" cy="2533452"/>
          </a:xfrm>
          <a:prstGeom prst="roundRect">
            <a:avLst>
              <a:gd name="adj" fmla="val 2406"/>
            </a:avLst>
          </a:prstGeom>
          <a:solidFill>
            <a:srgbClr val="F4F3EC"/>
          </a:solidFill>
          <a:ln w="25399">
            <a:solidFill>
              <a:srgbClr val="F2D1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5464" y="3919736"/>
            <a:ext cx="637524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NEXT FOUNDATION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35464" y="4149527"/>
            <a:ext cx="6172046" cy="50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Ready for dashboards, authentication and database integration.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Validation rules can extend to new record types.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0990" y="6392466"/>
            <a:ext cx="1181070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52" kern="100" dirty="0">
                <a:solidFill>
                  <a:srgbClr val="A3C7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 DEPENDABLE FOUNDATION FOR A CLEARER ACADEMIC RECORD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2026-10-15T17:41:04Z</dcterms:created>
  <dcterms:modified xsi:type="dcterms:W3CDTF">2026-10-15T17:41:04Z</dcterms:modified>
</cp:coreProperties>
</file>